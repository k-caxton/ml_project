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4"/>
  </p:notesMasterIdLst>
  <p:handoutMasterIdLst>
    <p:handoutMasterId r:id="rId13"/>
  </p:handoutMasterIdLst>
  <p:sldIdLst>
    <p:sldId id="334" r:id="rId3"/>
    <p:sldId id="316" r:id="rId5"/>
    <p:sldId id="337" r:id="rId6"/>
    <p:sldId id="343" r:id="rId7"/>
    <p:sldId id="342" r:id="rId8"/>
    <p:sldId id="336" r:id="rId9"/>
    <p:sldId id="324" r:id="rId10"/>
    <p:sldId id="346" r:id="rId11"/>
    <p:sldId id="34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92" userDrawn="1">
          <p15:clr>
            <a:srgbClr val="A4A3A4"/>
          </p15:clr>
        </p15:guide>
        <p15:guide id="2" pos="7056" userDrawn="1">
          <p15:clr>
            <a:srgbClr val="A4A3A4"/>
          </p15:clr>
        </p15:guide>
        <p15:guide id="3" orient="horz" pos="3168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9DCAF9ED-07DC-4A11-8D7F-57B35C25682E}">
  <a:tblStyle styleId="{9DCAF9ED-07DC-4A11-8D7F-57B35C25682E}" styleName="中度样式 1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4" autoAdjust="0"/>
    <p:restoredTop sz="84967" autoAdjust="0"/>
  </p:normalViewPr>
  <p:slideViewPr>
    <p:cSldViewPr snapToGrid="0" showGuides="1">
      <p:cViewPr varScale="1">
        <p:scale>
          <a:sx n="111" d="100"/>
          <a:sy n="111" d="100"/>
        </p:scale>
        <p:origin x="594" y="96"/>
      </p:cViewPr>
      <p:guideLst>
        <p:guide orient="horz" pos="1392"/>
        <p:guide pos="7056"/>
        <p:guide orient="horz" pos="3168"/>
      </p:guideLst>
    </p:cSldViewPr>
  </p:slideViewPr>
  <p:outlineViewPr>
    <p:cViewPr>
      <p:scale>
        <a:sx n="33" d="100"/>
        <a:sy n="33" d="100"/>
      </p:scale>
      <p:origin x="0" y="-1103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customXml" Target="../customXml/item3.xml"/><Relationship Id="rId2" Type="http://schemas.openxmlformats.org/officeDocument/2006/relationships/theme" Target="theme/theme1.xml"/><Relationship Id="rId19" Type="http://schemas.openxmlformats.org/officeDocument/2006/relationships/customXml" Target="../customXml/item2.xml"/><Relationship Id="rId18" Type="http://schemas.openxmlformats.org/officeDocument/2006/relationships/customXml" Target="../customXml/item1.xml"/><Relationship Id="rId17" Type="http://schemas.microsoft.com/office/2018/10/relationships/authors" Target="authors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handoutMaster" Target="handoutMasters/handoutMaster1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888634-FBA9-41D6-8B35-EE3A7D816B7C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7C78D2-97D1-4B37-BDD1-08A09BD4CA99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A28068-AFBD-4979-B752-9EB6F90B1386}" type="datetimeFigureOut">
              <a:rPr lang="en-US" smtClean="0"/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939589-3E79-4C82-AA4A-FE78234FAA59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Slid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0159" y="357809"/>
            <a:ext cx="7983110" cy="3080335"/>
          </a:xfrm>
        </p:spPr>
        <p:txBody>
          <a:bodyPr lIns="0" tIns="0" rIns="0" bIns="0" anchor="b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1280160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/>
          <p:cNvGrpSpPr/>
          <p:nvPr userDrawn="1"/>
        </p:nvGrpSpPr>
        <p:grpSpPr>
          <a:xfrm>
            <a:off x="8161510" y="2744546"/>
            <a:ext cx="465456" cy="581432"/>
            <a:chOff x="7843462" y="2744546"/>
            <a:chExt cx="465456" cy="581432"/>
          </a:xfrm>
        </p:grpSpPr>
        <p:sp>
          <p:nvSpPr>
            <p:cNvPr id="19" name="Graphic 12"/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/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/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116544" y="614202"/>
            <a:ext cx="5918072" cy="2276856"/>
          </a:xfrm>
        </p:spPr>
        <p:txBody>
          <a:bodyPr lIns="0" tIns="0" rIns="0" bIns="0" anchor="b"/>
          <a:lstStyle>
            <a:lvl1pPr algn="r">
              <a:lnSpc>
                <a:spcPts val="4000"/>
              </a:lnSpc>
              <a:defRPr sz="4000" b="1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DA9DAA-006C-4F4B-980E-E3DF019B24E2}" type="slidenum">
              <a:rPr lang="en-US" smtClean="0"/>
            </a:fld>
            <a:endParaRPr lang="en-US" dirty="0"/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4" hasCustomPrompt="1"/>
          </p:nvPr>
        </p:nvSpPr>
        <p:spPr>
          <a:xfrm>
            <a:off x="1280160" y="2530058"/>
            <a:ext cx="3707972" cy="3707971"/>
          </a:xfrm>
          <a:custGeom>
            <a:avLst/>
            <a:gdLst>
              <a:gd name="connsiteX0" fmla="*/ 1853986 w 3707972"/>
              <a:gd name="connsiteY0" fmla="*/ 0 h 3707971"/>
              <a:gd name="connsiteX1" fmla="*/ 3707972 w 3707972"/>
              <a:gd name="connsiteY1" fmla="*/ 1853986 h 3707971"/>
              <a:gd name="connsiteX2" fmla="*/ 2043545 w 3707972"/>
              <a:gd name="connsiteY2" fmla="*/ 3698400 h 3707971"/>
              <a:gd name="connsiteX3" fmla="*/ 1854006 w 3707972"/>
              <a:gd name="connsiteY3" fmla="*/ 3707971 h 3707971"/>
              <a:gd name="connsiteX4" fmla="*/ 1853966 w 3707972"/>
              <a:gd name="connsiteY4" fmla="*/ 3707971 h 3707971"/>
              <a:gd name="connsiteX5" fmla="*/ 1664427 w 3707972"/>
              <a:gd name="connsiteY5" fmla="*/ 3698400 h 3707971"/>
              <a:gd name="connsiteX6" fmla="*/ 0 w 3707972"/>
              <a:gd name="connsiteY6" fmla="*/ 1853986 h 3707971"/>
              <a:gd name="connsiteX7" fmla="*/ 1853986 w 3707972"/>
              <a:gd name="connsiteY7" fmla="*/ 0 h 370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07972" h="3707971">
                <a:moveTo>
                  <a:pt x="1853986" y="0"/>
                </a:moveTo>
                <a:cubicBezTo>
                  <a:pt x="2877914" y="0"/>
                  <a:pt x="3707972" y="830058"/>
                  <a:pt x="3707972" y="1853986"/>
                </a:cubicBezTo>
                <a:cubicBezTo>
                  <a:pt x="3707972" y="2813919"/>
                  <a:pt x="2978429" y="3603458"/>
                  <a:pt x="2043545" y="3698400"/>
                </a:cubicBezTo>
                <a:lnTo>
                  <a:pt x="1854006" y="3707971"/>
                </a:lnTo>
                <a:lnTo>
                  <a:pt x="1853966" y="3707971"/>
                </a:lnTo>
                <a:lnTo>
                  <a:pt x="1664427" y="3698400"/>
                </a:lnTo>
                <a:cubicBezTo>
                  <a:pt x="729543" y="3603458"/>
                  <a:pt x="0" y="2813919"/>
                  <a:pt x="0" y="1853986"/>
                </a:cubicBezTo>
                <a:cubicBezTo>
                  <a:pt x="0" y="830058"/>
                  <a:pt x="830058" y="0"/>
                  <a:pt x="1853986" y="0"/>
                </a:cubicBezTo>
                <a:close/>
              </a:path>
            </a:pathLst>
          </a:custGeom>
        </p:spPr>
        <p:txBody>
          <a:bodyPr wrap="square" tIns="914400" anchor="t">
            <a:noAutofit/>
          </a:bodyPr>
          <a:lstStyle>
            <a:lvl1pPr algn="ctr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5116548" y="3161752"/>
            <a:ext cx="5918068" cy="3144965"/>
          </a:xfrm>
        </p:spPr>
        <p:txBody>
          <a:bodyPr lIns="0" tIns="0" rIns="0" bIns="0">
            <a:normAutofit/>
          </a:bodyPr>
          <a:lstStyle>
            <a:lvl1pPr marL="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1pPr>
            <a:lvl2pPr marL="45720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2pPr>
            <a:lvl3pPr marL="91440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3pPr>
            <a:lvl4pPr marL="137160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4pPr>
            <a:lvl5pPr marL="1828800" indent="0" algn="r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</p:txBody>
      </p:sp>
      <p:cxnSp>
        <p:nvCxnSpPr>
          <p:cNvPr id="14" name="Straight Connector 13"/>
          <p:cNvCxnSpPr/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Graphic 12"/>
          <p:cNvSpPr/>
          <p:nvPr userDrawn="1"/>
        </p:nvSpPr>
        <p:spPr>
          <a:xfrm>
            <a:off x="4745394" y="276027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Graphic 13"/>
          <p:cNvSpPr/>
          <p:nvPr userDrawn="1"/>
        </p:nvSpPr>
        <p:spPr>
          <a:xfrm>
            <a:off x="4386614" y="253098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Graphic 15"/>
          <p:cNvSpPr/>
          <p:nvPr userDrawn="1"/>
        </p:nvSpPr>
        <p:spPr>
          <a:xfrm>
            <a:off x="1652402" y="603157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9"/>
          </p:nvPr>
        </p:nvSpPr>
        <p:spPr>
          <a:xfrm>
            <a:off x="7238999" y="6356350"/>
            <a:ext cx="379561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0159" y="3386775"/>
            <a:ext cx="8311102" cy="3080335"/>
          </a:xfrm>
        </p:spPr>
        <p:txBody>
          <a:bodyPr lIns="0" tIns="274320" rIns="0" bIns="0" anchor="t" anchorCtr="0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1280160" y="0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/>
          <p:cNvGrpSpPr/>
          <p:nvPr userDrawn="1"/>
        </p:nvGrpSpPr>
        <p:grpSpPr>
          <a:xfrm rot="19670435">
            <a:off x="7632743" y="794953"/>
            <a:ext cx="465456" cy="581432"/>
            <a:chOff x="7843462" y="2744546"/>
            <a:chExt cx="465456" cy="581432"/>
          </a:xfrm>
        </p:grpSpPr>
        <p:sp>
          <p:nvSpPr>
            <p:cNvPr id="19" name="Graphic 12"/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/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/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" name="Picture Placeholder 14"/>
          <p:cNvSpPr>
            <a:spLocks noGrp="1"/>
          </p:cNvSpPr>
          <p:nvPr>
            <p:ph type="pic" sz="quarter" idx="13" hasCustomPrompt="1"/>
          </p:nvPr>
        </p:nvSpPr>
        <p:spPr>
          <a:xfrm>
            <a:off x="8197587" y="411831"/>
            <a:ext cx="3521337" cy="3521344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anchor="t" anchorCtr="0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80159" y="640080"/>
            <a:ext cx="10302240" cy="1852046"/>
          </a:xfrm>
        </p:spPr>
        <p:txBody>
          <a:bodyPr lIns="0" tIns="0" rIns="0" bIns="0" anchor="b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280158" y="2588447"/>
            <a:ext cx="7853678" cy="726645"/>
          </a:xfrm>
        </p:spPr>
        <p:txBody>
          <a:bodyPr lIns="0" tIns="0" rIns="0" bIns="0" anchor="t" anchorCtr="0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  <a:endParaRPr lang="en-US" dirty="0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1280160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/>
          <p:cNvGrpSpPr/>
          <p:nvPr userDrawn="1"/>
        </p:nvGrpSpPr>
        <p:grpSpPr>
          <a:xfrm flipH="1">
            <a:off x="7659974" y="4456458"/>
            <a:ext cx="465456" cy="581432"/>
            <a:chOff x="7843462" y="2744546"/>
            <a:chExt cx="465456" cy="581432"/>
          </a:xfrm>
        </p:grpSpPr>
        <p:sp>
          <p:nvSpPr>
            <p:cNvPr id="19" name="Graphic 12"/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/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/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5" name="Picture Placeholder 14"/>
          <p:cNvSpPr>
            <a:spLocks noGrp="1"/>
          </p:cNvSpPr>
          <p:nvPr>
            <p:ph type="pic" sz="quarter" idx="13" hasCustomPrompt="1"/>
          </p:nvPr>
        </p:nvSpPr>
        <p:spPr>
          <a:xfrm>
            <a:off x="8536252" y="3205313"/>
            <a:ext cx="3043077" cy="3043083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anchor="t" anchorCtr="0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14800" y="640080"/>
            <a:ext cx="7498080" cy="1280160"/>
          </a:xfrm>
        </p:spPr>
        <p:txBody>
          <a:bodyPr lIns="0" tIns="0" rIns="0" bIns="0" anchor="b" anchorCtr="0"/>
          <a:lstStyle>
            <a:lvl1pPr>
              <a:defRPr sz="4000" b="1" cap="all" spc="0" baseline="0"/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4632" y="722376"/>
            <a:ext cx="520991" cy="517379"/>
          </a:xfrm>
        </p:spPr>
        <p:txBody>
          <a:bodyPr anchor="t" anchorCtr="0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</a:fld>
            <a:endParaRPr lang="en-US" dirty="0"/>
          </a:p>
        </p:txBody>
      </p:sp>
      <p:sp>
        <p:nvSpPr>
          <p:cNvPr id="15" name="Picture Placeholder 14"/>
          <p:cNvSpPr>
            <a:spLocks noGrp="1"/>
          </p:cNvSpPr>
          <p:nvPr>
            <p:ph type="pic" sz="quarter" idx="13" hasCustomPrompt="1"/>
          </p:nvPr>
        </p:nvSpPr>
        <p:spPr>
          <a:xfrm>
            <a:off x="1317615" y="895646"/>
            <a:ext cx="1956925" cy="1956928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" anchor="t" anchorCtr="0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 dirty="0"/>
              <a:t>Click to add picture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114800" y="2194560"/>
            <a:ext cx="7498080" cy="402336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10000"/>
              </a:lnSpc>
              <a:buNone/>
              <a:defRPr sz="1800"/>
            </a:lvl1pPr>
            <a:lvl2pPr marL="228600">
              <a:defRPr sz="1600"/>
            </a:lvl2pPr>
            <a:lvl3pPr marL="457200">
              <a:defRPr sz="1400"/>
            </a:lvl3pPr>
            <a:lvl4pPr marL="685800">
              <a:defRPr sz="1200"/>
            </a:lvl4pPr>
            <a:lvl5pPr>
              <a:defRPr sz="1400"/>
            </a:lvl5pPr>
          </a:lstStyle>
          <a:p>
            <a:pPr lvl="0"/>
            <a:r>
              <a:rPr lang="en-US" dirty="0"/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2970685" y="620661"/>
            <a:ext cx="403448" cy="381782"/>
            <a:chOff x="10969280" y="1780012"/>
            <a:chExt cx="403448" cy="381782"/>
          </a:xfrm>
        </p:grpSpPr>
        <p:sp>
          <p:nvSpPr>
            <p:cNvPr id="17" name="Graphic 10"/>
            <p:cNvSpPr/>
            <p:nvPr userDrawn="1"/>
          </p:nvSpPr>
          <p:spPr>
            <a:xfrm>
              <a:off x="11281590" y="2070656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" name="Graphic 11"/>
            <p:cNvSpPr/>
            <p:nvPr userDrawn="1"/>
          </p:nvSpPr>
          <p:spPr>
            <a:xfrm>
              <a:off x="10969280" y="1780012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" name="Footer Placeholder 8"/>
          <p:cNvSpPr>
            <a:spLocks noGrp="1"/>
          </p:cNvSpPr>
          <p:nvPr>
            <p:ph type="ftr" sz="quarter" idx="17"/>
          </p:nvPr>
        </p:nvSpPr>
        <p:spPr>
          <a:xfrm>
            <a:off x="1280160" y="6356350"/>
            <a:ext cx="4114800" cy="365125"/>
          </a:xfrm>
        </p:spPr>
        <p:txBody>
          <a:bodyPr lIns="0" rIns="91440"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+ Subtitle slid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80159" y="3383280"/>
            <a:ext cx="10302240" cy="1852046"/>
          </a:xfrm>
        </p:spPr>
        <p:txBody>
          <a:bodyPr lIns="0" tIns="274320" rIns="0" bIns="0" anchor="t" anchorCtr="0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280158" y="2966886"/>
            <a:ext cx="10302237" cy="397191"/>
          </a:xfrm>
        </p:spPr>
        <p:txBody>
          <a:bodyPr lIns="0" tIns="0" rIns="0" bIns="0" anchor="b" anchorCtr="0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  <a:endParaRPr lang="en-US" dirty="0"/>
          </a:p>
        </p:txBody>
      </p:sp>
      <p:grpSp>
        <p:nvGrpSpPr>
          <p:cNvPr id="4" name="Group 3"/>
          <p:cNvGrpSpPr/>
          <p:nvPr userDrawn="1"/>
        </p:nvGrpSpPr>
        <p:grpSpPr>
          <a:xfrm>
            <a:off x="10897692" y="620298"/>
            <a:ext cx="465456" cy="581432"/>
            <a:chOff x="7843462" y="2744546"/>
            <a:chExt cx="465456" cy="581432"/>
          </a:xfrm>
        </p:grpSpPr>
        <p:sp>
          <p:nvSpPr>
            <p:cNvPr id="19" name="Graphic 12"/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/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/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cxnSp>
        <p:nvCxnSpPr>
          <p:cNvPr id="5" name="Straight Connector 4"/>
          <p:cNvCxnSpPr/>
          <p:nvPr userDrawn="1"/>
        </p:nvCxnSpPr>
        <p:spPr>
          <a:xfrm>
            <a:off x="1280160" y="0"/>
            <a:ext cx="0" cy="2775857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80160" y="685800"/>
            <a:ext cx="9137012" cy="1280160"/>
          </a:xfrm>
        </p:spPr>
        <p:txBody>
          <a:bodyPr lIns="0" tIns="0" rIns="0" bIns="0"/>
          <a:lstStyle>
            <a:lvl1pPr>
              <a:defRPr sz="4000" b="1" cap="all" spc="0" baseline="0"/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1280160" y="2327440"/>
            <a:ext cx="4846320" cy="4040574"/>
          </a:xfrm>
        </p:spPr>
        <p:txBody>
          <a:bodyPr lIns="0" tIns="0" rIns="0" bIns="0">
            <a:normAutofit/>
          </a:bodyPr>
          <a:lstStyle>
            <a:lvl1pPr marL="0" indent="0">
              <a:spcAft>
                <a:spcPts val="0"/>
              </a:spcAft>
              <a:buNone/>
              <a:defRPr sz="1800"/>
            </a:lvl1pPr>
            <a:lvl2pPr marL="228600">
              <a:spcBef>
                <a:spcPts val="1200"/>
              </a:spcBef>
              <a:defRPr sz="1800"/>
            </a:lvl2pPr>
            <a:lvl3pPr marL="685800">
              <a:spcBef>
                <a:spcPts val="1200"/>
              </a:spcBef>
              <a:defRPr sz="1800"/>
            </a:lvl3pPr>
            <a:lvl4pPr marL="1143000">
              <a:spcBef>
                <a:spcPts val="1200"/>
              </a:spcBef>
              <a:defRPr sz="1800"/>
            </a:lvl4pPr>
            <a:lvl5pPr marL="1600200"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723402" y="2327441"/>
            <a:ext cx="4846320" cy="4040574"/>
          </a:xfrm>
        </p:spPr>
        <p:txBody>
          <a:bodyPr lIns="0" tIns="0" rIns="0" bIns="0">
            <a:normAutofit/>
          </a:bodyPr>
          <a:lstStyle>
            <a:lvl1pPr marL="0" indent="0">
              <a:spcAft>
                <a:spcPts val="0"/>
              </a:spcAft>
              <a:buNone/>
              <a:defRPr sz="1800"/>
            </a:lvl1pPr>
            <a:lvl2pPr marL="228600">
              <a:spcBef>
                <a:spcPts val="1200"/>
              </a:spcBef>
              <a:defRPr sz="1800"/>
            </a:lvl2pPr>
            <a:lvl3pPr marL="685800">
              <a:spcBef>
                <a:spcPts val="1200"/>
              </a:spcBef>
              <a:defRPr sz="1800"/>
            </a:lvl3pPr>
            <a:lvl4pPr marL="1143000">
              <a:spcBef>
                <a:spcPts val="1200"/>
              </a:spcBef>
              <a:defRPr sz="1800"/>
            </a:lvl4pPr>
            <a:lvl5pPr marL="1600200"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Graphic 15"/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Graphic 16"/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" name="Graphic 14"/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6412992" y="0"/>
            <a:ext cx="5779008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15572" y="685800"/>
            <a:ext cx="4754880" cy="5670550"/>
          </a:xfrm>
        </p:spPr>
        <p:txBody>
          <a:bodyPr lIns="0" tIns="0" rIns="0" bIns="0" anchor="ctr" anchorCtr="0"/>
          <a:lstStyle>
            <a:lvl1pPr algn="l">
              <a:defRPr sz="4000" b="1" cap="all" spc="0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</a:fld>
            <a:endParaRPr lang="en-US" dirty="0"/>
          </a:p>
        </p:txBody>
      </p:sp>
      <p:sp>
        <p:nvSpPr>
          <p:cNvPr id="4" name="Content Placeholder 5"/>
          <p:cNvSpPr>
            <a:spLocks noGrp="1"/>
          </p:cNvSpPr>
          <p:nvPr>
            <p:ph sz="quarter" idx="15" hasCustomPrompt="1"/>
          </p:nvPr>
        </p:nvSpPr>
        <p:spPr>
          <a:xfrm>
            <a:off x="1279526" y="1533524"/>
            <a:ext cx="4663440" cy="1895475"/>
          </a:xfrm>
        </p:spPr>
        <p:txBody>
          <a:bodyPr lIns="0" tIns="0" rIns="0" bIns="0" anchor="t" anchorCtr="0">
            <a:noAutofit/>
          </a:bodyPr>
          <a:lstStyle>
            <a:lvl1pPr marL="342900" indent="-511810">
              <a:spcBef>
                <a:spcPts val="1000"/>
              </a:spcBef>
              <a:buFont typeface="+mj-lt"/>
              <a:buAutoNum type="arabicPeriod"/>
              <a:defRPr sz="1800"/>
            </a:lvl1pPr>
            <a:lvl2pPr marL="1028700" indent="-342900">
              <a:spcBef>
                <a:spcPts val="1200"/>
              </a:spcBef>
              <a:buFont typeface="+mj-lt"/>
              <a:buAutoNum type="alphaLcPeriod"/>
              <a:defRPr sz="1800"/>
            </a:lvl2pPr>
            <a:lvl3pPr marL="1257300" indent="-342900">
              <a:spcBef>
                <a:spcPts val="1200"/>
              </a:spcBef>
              <a:buFont typeface="+mj-lt"/>
              <a:buAutoNum type="arabicParenR"/>
              <a:defRPr sz="1800"/>
            </a:lvl3pPr>
            <a:lvl4pPr marL="1714500" indent="-342900">
              <a:spcBef>
                <a:spcPts val="1200"/>
              </a:spcBef>
              <a:buFont typeface="+mj-lt"/>
              <a:buAutoNum type="alphaLcParenR"/>
              <a:defRPr sz="1800"/>
            </a:lvl4pPr>
            <a:lvl5pPr marL="2228850" indent="-400050">
              <a:spcBef>
                <a:spcPts val="1200"/>
              </a:spcBef>
              <a:buFont typeface="+mj-lt"/>
              <a:buAutoNum type="romanLcPeriod"/>
              <a:defRPr sz="1800"/>
            </a:lvl5pPr>
          </a:lstStyle>
          <a:p>
            <a:pPr lvl="0"/>
            <a:r>
              <a:rPr lang="en-US" dirty="0"/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Content Placeholder 5"/>
          <p:cNvSpPr>
            <a:spLocks noGrp="1"/>
          </p:cNvSpPr>
          <p:nvPr>
            <p:ph sz="quarter" idx="13" hasCustomPrompt="1"/>
          </p:nvPr>
        </p:nvSpPr>
        <p:spPr>
          <a:xfrm>
            <a:off x="1280160" y="3482974"/>
            <a:ext cx="4663440" cy="1190033"/>
          </a:xfr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spcBef>
                <a:spcPts val="1200"/>
              </a:spcBef>
              <a:buNone/>
              <a:defRPr sz="1600"/>
            </a:lvl2pPr>
            <a:lvl3pPr marL="914400" indent="0">
              <a:spcBef>
                <a:spcPts val="1200"/>
              </a:spcBef>
              <a:buNone/>
              <a:defRPr sz="1400"/>
            </a:lvl3pPr>
            <a:lvl4pPr marL="1371600" indent="0">
              <a:spcBef>
                <a:spcPts val="1200"/>
              </a:spcBef>
              <a:buNone/>
              <a:defRPr sz="1200"/>
            </a:lvl4pPr>
            <a:lvl5pPr marL="1828800" indent="0">
              <a:spcBef>
                <a:spcPts val="1200"/>
              </a:spcBef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1280160" y="4692058"/>
            <a:ext cx="4663440" cy="1584918"/>
          </a:xfrm>
        </p:spPr>
        <p:txBody>
          <a:bodyPr lIns="0" tIns="0" rIns="0" bIns="0" anchor="t" anchorCtr="0">
            <a:noAutofit/>
          </a:bodyPr>
          <a:lstStyle>
            <a:lvl1pPr>
              <a:spcBef>
                <a:spcPts val="1200"/>
              </a:spcBef>
              <a:defRPr sz="1800"/>
            </a:lvl1pPr>
            <a:lvl2pPr>
              <a:spcBef>
                <a:spcPts val="1200"/>
              </a:spcBef>
              <a:defRPr sz="1600"/>
            </a:lvl2pPr>
            <a:lvl3pPr>
              <a:spcBef>
                <a:spcPts val="1200"/>
              </a:spcBef>
              <a:defRPr sz="1400"/>
            </a:lvl3pPr>
            <a:lvl4pPr>
              <a:spcBef>
                <a:spcPts val="1200"/>
              </a:spcBef>
              <a:defRPr sz="1200"/>
            </a:lvl4pPr>
            <a:lvl5pPr>
              <a:spcBef>
                <a:spcPts val="1200"/>
              </a:spcBef>
              <a:defRPr sz="1200"/>
            </a:lvl5pPr>
          </a:lstStyle>
          <a:p>
            <a:pPr lvl="0"/>
            <a:r>
              <a:rPr lang="en-US" dirty="0"/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 rIns="91440"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23" name="Straight Connector 22"/>
          <p:cNvCxnSpPr/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0160" y="301752"/>
            <a:ext cx="4663438" cy="2441448"/>
          </a:xfrm>
        </p:spPr>
        <p:txBody>
          <a:bodyPr lIns="0" tIns="0" rIns="0" bIns="0" anchor="ctr" anchorCtr="0"/>
          <a:lstStyle>
            <a:lvl1pPr algn="l">
              <a:lnSpc>
                <a:spcPts val="4000"/>
              </a:lnSpc>
              <a:spcBef>
                <a:spcPts val="1000"/>
              </a:spcBef>
              <a:defRPr sz="4000" b="1" i="0" cap="all" spc="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4632" y="726630"/>
            <a:ext cx="520991" cy="517379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</a:fld>
            <a:endParaRPr lang="en-US" dirty="0"/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4"/>
          </p:nvPr>
        </p:nvSpPr>
        <p:spPr>
          <a:xfrm>
            <a:off x="1280161" y="2777067"/>
            <a:ext cx="4663440" cy="3550581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10000"/>
              </a:lnSpc>
              <a:buNone/>
              <a:defRPr sz="1800"/>
            </a:lvl1pPr>
            <a:lvl2pPr marL="228600">
              <a:lnSpc>
                <a:spcPct val="110000"/>
              </a:lnSpc>
              <a:defRPr sz="1600"/>
            </a:lvl2pPr>
            <a:lvl3pPr marL="457200">
              <a:lnSpc>
                <a:spcPct val="110000"/>
              </a:lnSpc>
              <a:defRPr sz="1400"/>
            </a:lvl3pPr>
            <a:lvl4pPr marL="685800">
              <a:lnSpc>
                <a:spcPct val="110000"/>
              </a:lnSpc>
              <a:defRPr sz="1200"/>
            </a:lvl4pPr>
            <a:lvl5pPr marL="914400">
              <a:lnSpc>
                <a:spcPct val="110000"/>
              </a:lnSpc>
              <a:defRPr sz="1200"/>
            </a:lvl5pPr>
          </a:lstStyle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6412089" y="0"/>
            <a:ext cx="5779911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3" hasCustomPrompt="1"/>
          </p:nvPr>
        </p:nvSpPr>
        <p:spPr>
          <a:xfrm>
            <a:off x="6695553" y="301752"/>
            <a:ext cx="5221224" cy="6263640"/>
          </a:xfrm>
        </p:spPr>
        <p:txBody>
          <a:bodyPr tIns="914400" anchor="t" anchorCtr="0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  <a:endParaRPr lang="en-US" dirty="0"/>
          </a:p>
        </p:txBody>
      </p:sp>
      <p:sp>
        <p:nvSpPr>
          <p:cNvPr id="10" name="Footer Placeholder 8"/>
          <p:cNvSpPr>
            <a:spLocks noGrp="1"/>
          </p:cNvSpPr>
          <p:nvPr>
            <p:ph type="ftr" sz="quarter" idx="17"/>
          </p:nvPr>
        </p:nvSpPr>
        <p:spPr>
          <a:xfrm>
            <a:off x="1280160" y="6356350"/>
            <a:ext cx="4434825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3" name="Straight Connector 2"/>
          <p:cNvCxnSpPr/>
          <p:nvPr userDrawn="1"/>
        </p:nvCxnSpPr>
        <p:spPr>
          <a:xfrm>
            <a:off x="745127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80159" y="640080"/>
            <a:ext cx="4815836" cy="2103120"/>
          </a:xfrm>
        </p:spPr>
        <p:txBody>
          <a:bodyPr lIns="0" tIns="0" rIns="0" bIns="0" anchor="ctr" anchorCtr="0"/>
          <a:lstStyle>
            <a:lvl1pPr algn="l">
              <a:defRPr sz="4000" b="1" cap="all" spc="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</a:fld>
            <a:endParaRPr lang="en-US" dirty="0"/>
          </a:p>
        </p:txBody>
      </p:sp>
      <p:sp>
        <p:nvSpPr>
          <p:cNvPr id="15" name="Content Placeholder 2"/>
          <p:cNvSpPr>
            <a:spLocks noGrp="1"/>
          </p:cNvSpPr>
          <p:nvPr>
            <p:ph idx="1" hasCustomPrompt="1"/>
          </p:nvPr>
        </p:nvSpPr>
        <p:spPr>
          <a:xfrm>
            <a:off x="6531427" y="640080"/>
            <a:ext cx="5122889" cy="2103120"/>
          </a:xfrm>
        </p:spPr>
        <p:txBody>
          <a:bodyPr lIns="0" tIns="0" rIns="0" bIns="0" anchor="ctr" anchorCtr="0">
            <a:normAutofit/>
          </a:bodyPr>
          <a:lstStyle>
            <a:lvl1pPr marL="0" indent="0">
              <a:lnSpc>
                <a:spcPct val="110000"/>
              </a:lnSpc>
              <a:buNone/>
              <a:defRPr sz="1800">
                <a:solidFill>
                  <a:schemeClr val="tx1"/>
                </a:solidFill>
              </a:defRPr>
            </a:lvl1pPr>
            <a:lvl2pPr marL="228600">
              <a:lnSpc>
                <a:spcPct val="100000"/>
              </a:lnSpc>
              <a:defRPr sz="1600">
                <a:solidFill>
                  <a:schemeClr val="tx1"/>
                </a:solidFill>
              </a:defRPr>
            </a:lvl2pPr>
            <a:lvl3pPr marL="457200">
              <a:lnSpc>
                <a:spcPct val="100000"/>
              </a:lnSpc>
              <a:defRPr sz="1400">
                <a:solidFill>
                  <a:schemeClr val="tx1"/>
                </a:solidFill>
              </a:defRPr>
            </a:lvl3pPr>
            <a:lvl4pPr marL="685800">
              <a:lnSpc>
                <a:spcPct val="100000"/>
              </a:lnSpc>
              <a:defRPr sz="1200">
                <a:solidFill>
                  <a:schemeClr val="tx1"/>
                </a:solidFill>
              </a:defRPr>
            </a:lvl4pPr>
            <a:lvl5pPr>
              <a:defRPr sz="1400"/>
            </a:lvl5pPr>
          </a:lstStyle>
          <a:p>
            <a:pPr lvl="0"/>
            <a:r>
              <a:rPr lang="en-US" dirty="0"/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/>
          <p:cNvSpPr>
            <a:spLocks noGrp="1"/>
          </p:cNvSpPr>
          <p:nvPr>
            <p:ph idx="21" hasCustomPrompt="1"/>
          </p:nvPr>
        </p:nvSpPr>
        <p:spPr>
          <a:xfrm>
            <a:off x="1280160" y="3017520"/>
            <a:ext cx="10374152" cy="3208866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9"/>
          </p:nvPr>
        </p:nvSpPr>
        <p:spPr>
          <a:xfrm>
            <a:off x="7539516" y="6356350"/>
            <a:ext cx="4114800" cy="365125"/>
          </a:xfr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0159" y="4970638"/>
            <a:ext cx="9144000" cy="1280160"/>
          </a:xfrm>
        </p:spPr>
        <p:txBody>
          <a:bodyPr lIns="0" tIns="0" rIns="0" bIns="0" anchor="b" anchorCtr="0"/>
          <a:lstStyle>
            <a:lvl1pPr algn="l">
              <a:defRPr sz="4000" b="1" cap="all" spc="0"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1280160" y="685800"/>
            <a:ext cx="4937760" cy="402336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>
              <a:spcBef>
                <a:spcPts val="1200"/>
              </a:spcBef>
              <a:defRPr sz="1800"/>
            </a:lvl2pPr>
            <a:lvl3pPr marL="914400">
              <a:spcBef>
                <a:spcPts val="1200"/>
              </a:spcBef>
              <a:defRPr sz="1800"/>
            </a:lvl3pPr>
            <a:lvl4pPr marL="1371600">
              <a:spcBef>
                <a:spcPts val="1200"/>
              </a:spcBef>
              <a:defRPr sz="1800"/>
            </a:lvl4pPr>
            <a:lvl5pPr marL="1828800"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704755" y="685800"/>
            <a:ext cx="4937760" cy="4023360"/>
          </a:xfrm>
        </p:spPr>
        <p:txBody>
          <a:bodyPr lIns="0" tIns="0" rIns="0" bIns="0">
            <a:noAutofit/>
          </a:bodyPr>
          <a:lstStyle>
            <a:lvl1pPr>
              <a:spcBef>
                <a:spcPts val="1200"/>
              </a:spcBef>
              <a:defRPr sz="1800"/>
            </a:lvl1pPr>
            <a:lvl2pPr>
              <a:spcBef>
                <a:spcPts val="1200"/>
              </a:spcBef>
              <a:defRPr sz="1800"/>
            </a:lvl2pPr>
            <a:lvl3pPr>
              <a:spcBef>
                <a:spcPts val="1200"/>
              </a:spcBef>
              <a:defRPr sz="1800"/>
            </a:lvl3pPr>
            <a:lvl4pPr>
              <a:spcBef>
                <a:spcPts val="1200"/>
              </a:spcBef>
              <a:defRPr sz="1800"/>
            </a:lvl4pPr>
            <a:lvl5pPr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5322570" y="5680647"/>
            <a:ext cx="465456" cy="581432"/>
            <a:chOff x="7843462" y="2744546"/>
            <a:chExt cx="465456" cy="581432"/>
          </a:xfrm>
        </p:grpSpPr>
        <p:sp>
          <p:nvSpPr>
            <p:cNvPr id="15" name="Graphic 12"/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" name="Graphic 13"/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" name="Graphic 15"/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 rIns="91440"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23" name="Straight Connector 22"/>
          <p:cNvCxnSpPr/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/>
          <p:cNvGrpSpPr/>
          <p:nvPr userDrawn="1"/>
        </p:nvGrpSpPr>
        <p:grpSpPr>
          <a:xfrm rot="5400000">
            <a:off x="10711518" y="5393214"/>
            <a:ext cx="1097341" cy="736658"/>
            <a:chOff x="10508317" y="446637"/>
            <a:chExt cx="1097341" cy="736658"/>
          </a:xfrm>
        </p:grpSpPr>
        <p:sp>
          <p:nvSpPr>
            <p:cNvPr id="25" name="Graphic 15"/>
            <p:cNvSpPr/>
            <p:nvPr userDrawn="1"/>
          </p:nvSpPr>
          <p:spPr>
            <a:xfrm>
              <a:off x="10508317" y="492206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" name="Graphic 16"/>
            <p:cNvSpPr/>
            <p:nvPr userDrawn="1"/>
          </p:nvSpPr>
          <p:spPr>
            <a:xfrm>
              <a:off x="11477944" y="1055581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" name="Graphic 14"/>
            <p:cNvSpPr/>
            <p:nvPr userDrawn="1"/>
          </p:nvSpPr>
          <p:spPr>
            <a:xfrm>
              <a:off x="11241555" y="446637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80160" y="640080"/>
            <a:ext cx="10087699" cy="1280160"/>
          </a:xfrm>
        </p:spPr>
        <p:txBody>
          <a:bodyPr lIns="0" tIns="0" rIns="0" bIns="0" anchor="b" anchorCtr="0"/>
          <a:lstStyle>
            <a:lvl1pPr>
              <a:defRPr sz="4000" b="1" cap="all" baseline="0"/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280160" y="2103119"/>
            <a:ext cx="10087699" cy="4114800"/>
          </a:xfrm>
        </p:spPr>
        <p:txBody>
          <a:bodyPr lIns="0" tIns="0" rIns="0" bIns="0"/>
          <a:lstStyle/>
          <a:p>
            <a:pPr lvl="0"/>
            <a:r>
              <a:rPr lang="en-US" dirty="0"/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/>
          <a:lstStyle>
            <a:lvl1pPr algn="l">
              <a:defRPr/>
            </a:lvl1pPr>
          </a:lstStyle>
          <a:p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Bubbles and Title 1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92897" y="585216"/>
            <a:ext cx="8965094" cy="2276856"/>
          </a:xfrm>
        </p:spPr>
        <p:txBody>
          <a:bodyPr lIns="0" tIns="0" rIns="0" anchor="b"/>
          <a:lstStyle>
            <a:lvl1pPr algn="r">
              <a:lnSpc>
                <a:spcPts val="4800"/>
              </a:lnSpc>
              <a:defRPr sz="4800" b="1" cap="all" spc="0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Picture Placeholder 14"/>
          <p:cNvSpPr>
            <a:spLocks noGrp="1"/>
          </p:cNvSpPr>
          <p:nvPr>
            <p:ph type="pic" sz="quarter" idx="14" hasCustomPrompt="1"/>
          </p:nvPr>
        </p:nvSpPr>
        <p:spPr>
          <a:xfrm>
            <a:off x="1371606" y="3205313"/>
            <a:ext cx="3043077" cy="3043083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anchor="t" anchorCtr="0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  <a:endParaRPr lang="en-US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3" hasCustomPrompt="1"/>
          </p:nvPr>
        </p:nvSpPr>
        <p:spPr>
          <a:xfrm>
            <a:off x="5640609" y="3127248"/>
            <a:ext cx="6117381" cy="3017520"/>
          </a:xfrm>
        </p:spPr>
        <p:txBody>
          <a:bodyPr lIns="0" tIns="0" rIns="0" bIns="0">
            <a:normAutofit/>
          </a:bodyPr>
          <a:lstStyle>
            <a:lvl1pPr marL="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  <a:endParaRPr lang="en-US" dirty="0"/>
          </a:p>
        </p:txBody>
      </p:sp>
      <p:grpSp>
        <p:nvGrpSpPr>
          <p:cNvPr id="3" name="Group 2"/>
          <p:cNvGrpSpPr/>
          <p:nvPr userDrawn="1"/>
        </p:nvGrpSpPr>
        <p:grpSpPr>
          <a:xfrm rot="18614240">
            <a:off x="3975343" y="2819532"/>
            <a:ext cx="465456" cy="581432"/>
            <a:chOff x="7843462" y="2744546"/>
            <a:chExt cx="465456" cy="581432"/>
          </a:xfrm>
        </p:grpSpPr>
        <p:sp>
          <p:nvSpPr>
            <p:cNvPr id="4" name="Graphic 12"/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" name="Graphic 13"/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" name="Graphic 15"/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cxnSp>
        <p:nvCxnSpPr>
          <p:cNvPr id="13" name="Straight Connector 12"/>
          <p:cNvCxnSpPr/>
          <p:nvPr userDrawn="1"/>
        </p:nvCxnSpPr>
        <p:spPr>
          <a:xfrm>
            <a:off x="740664" y="3503032"/>
            <a:ext cx="0" cy="334609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136525"/>
            <a:ext cx="10515600" cy="1509713"/>
          </a:xfrm>
        </p:spPr>
        <p:txBody>
          <a:bodyPr/>
          <a:lstStyle/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72390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84632" y="726630"/>
            <a:ext cx="520991" cy="517379"/>
          </a:xfrm>
        </p:spPr>
        <p:txBody>
          <a:bodyPr/>
          <a:lstStyle/>
          <a:p>
            <a:fld id="{D8DA9DAA-006C-4F4B-980E-E3DF019B24E2}" type="slidenum">
              <a:rPr lang="en-US" smtClean="0"/>
            </a:fld>
            <a:endParaRPr lang="en-US" dirty="0"/>
          </a:p>
        </p:txBody>
      </p:sp>
      <p:cxnSp>
        <p:nvCxnSpPr>
          <p:cNvPr id="3" name="Straight Connector 2"/>
          <p:cNvCxnSpPr/>
          <p:nvPr userDrawn="1"/>
        </p:nvCxnSpPr>
        <p:spPr>
          <a:xfrm>
            <a:off x="715890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 userDrawn="1"/>
        </p:nvCxnSpPr>
        <p:spPr>
          <a:xfrm>
            <a:off x="715890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35394" y="1"/>
            <a:ext cx="9918405" cy="164623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35394" y="1825625"/>
            <a:ext cx="991840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6121" y="726630"/>
            <a:ext cx="520991" cy="517379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1800" b="1" i="0" cap="all" spc="100" baseline="0"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</a:fld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35394" y="6356350"/>
            <a:ext cx="274320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238999" y="6356350"/>
            <a:ext cx="4114800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ftr="0"/>
  <p:txStyles>
    <p:titleStyle>
      <a:lvl1pPr algn="l" defTabSz="914400" rtl="0" eaLnBrk="1" latinLnBrk="0" hangingPunct="1">
        <a:lnSpc>
          <a:spcPts val="4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0160" y="427355"/>
            <a:ext cx="10365740" cy="2914650"/>
          </a:xfrm>
        </p:spPr>
        <p:txBody>
          <a:bodyPr/>
          <a:lstStyle/>
          <a:p>
            <a:r>
              <a:rPr lang="en-US" sz="3600" dirty="0"/>
              <a:t>Machine Learning Mini Project</a:t>
            </a:r>
            <a:br>
              <a:rPr lang="en-US" sz="2800" dirty="0"/>
            </a:br>
            <a:r>
              <a:rPr lang="en-US" sz="2800" dirty="0"/>
              <a:t>Justus Onyango	191948</a:t>
            </a:r>
            <a:br>
              <a:rPr lang="en-US" sz="2800" dirty="0"/>
            </a:br>
            <a:r>
              <a:rPr lang="en-US" sz="2800" dirty="0"/>
              <a:t>Caxton Kiptoo	180657</a:t>
            </a:r>
            <a:br>
              <a:rPr lang="en-US" sz="2800" dirty="0"/>
            </a:br>
            <a:r>
              <a:rPr lang="en-GB" altLang="en-US" sz="2800" dirty="0"/>
              <a:t>paul gitungo		190093</a:t>
            </a:r>
            <a:endParaRPr lang="en-GB" altLang="en-US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1280157" y="3642573"/>
            <a:ext cx="9330333" cy="11931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3200" b="1" kern="1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Arial" panose="020B0604020202020204" pitchFamily="34" charset="0"/>
              </a:rPr>
              <a:t>Comparative Analysis of Machine Learning Models for Predicting Financial Inclusion in East Africa</a:t>
            </a:r>
            <a:endParaRPr lang="en-US" sz="3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Mountains at sunset"/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1"/>
          <a:srcRect t="21" b="21"/>
          <a:stretch>
            <a:fillRect/>
          </a:stretch>
        </p:blipFill>
        <p:spPr>
          <a:xfrm>
            <a:off x="759124" y="321696"/>
            <a:ext cx="2941608" cy="6182621"/>
          </a:xfrm>
        </p:spPr>
      </p:pic>
      <p:sp>
        <p:nvSpPr>
          <p:cNvPr id="4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3925019" y="177012"/>
            <a:ext cx="7729267" cy="5525047"/>
          </a:xfrm>
        </p:spPr>
        <p:txBody>
          <a:bodyPr>
            <a:normAutofit fontScale="92500"/>
          </a:bodyPr>
          <a:lstStyle/>
          <a:p>
            <a:pPr algn="l"/>
            <a:r>
              <a:rPr lang="en-US" sz="3200" b="1" dirty="0"/>
              <a:t>Problem Identification &amp; Relevance to Africa</a:t>
            </a:r>
            <a:endParaRPr lang="en-GB" sz="3200" b="1" dirty="0"/>
          </a:p>
          <a:p>
            <a:pPr algn="l"/>
            <a:endParaRPr lang="en-US" sz="3200" b="1" dirty="0"/>
          </a:p>
          <a:p>
            <a:pPr algn="l"/>
            <a:r>
              <a:rPr lang="en-US" sz="3200" b="1" dirty="0"/>
              <a:t>Problem</a:t>
            </a:r>
            <a:endParaRPr lang="en-US" sz="3200" b="1" dirty="0"/>
          </a:p>
          <a:p>
            <a:pPr algn="l"/>
            <a:r>
              <a:rPr lang="en-US" dirty="0"/>
              <a:t>Many people in East Africa still lack access to formal banking services. </a:t>
            </a:r>
            <a:endParaRPr lang="en-US" dirty="0"/>
          </a:p>
          <a:p>
            <a:pPr algn="l"/>
            <a:r>
              <a:rPr lang="en-US" dirty="0"/>
              <a:t>Financial inclusion is essential for economic growth and poverty reduction. </a:t>
            </a:r>
            <a:endParaRPr lang="en-US" dirty="0"/>
          </a:p>
          <a:p>
            <a:pPr algn="l"/>
            <a:r>
              <a:rPr lang="en-US" dirty="0"/>
              <a:t>Predicting bank account ownership can help policymakers identify financially excluded populations. </a:t>
            </a:r>
            <a:endParaRPr lang="en-US" dirty="0"/>
          </a:p>
          <a:p>
            <a:pPr algn="l"/>
            <a:r>
              <a:rPr lang="en-US" sz="3000" b="1" dirty="0"/>
              <a:t>Objective</a:t>
            </a:r>
            <a:endParaRPr lang="en-US" sz="3000" b="1" dirty="0"/>
          </a:p>
          <a:p>
            <a:pPr algn="l"/>
            <a:r>
              <a:rPr lang="en-US" dirty="0"/>
              <a:t>Compare KNN, Decision Tree, SVM, and ANN in predicting bank account ownership.</a:t>
            </a:r>
            <a:endParaRPr lang="en-US" dirty="0"/>
          </a:p>
          <a:p>
            <a:endParaRPr lang="en-US" dirty="0"/>
          </a:p>
          <a:p>
            <a:pPr algn="l"/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8" descr="Mountains at sunset"/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1"/>
          <a:srcRect l="23" r="23"/>
          <a:stretch>
            <a:fillRect/>
          </a:stretch>
        </p:blipFill>
        <p:spPr>
          <a:xfrm>
            <a:off x="9109494" y="411831"/>
            <a:ext cx="2609430" cy="5635286"/>
          </a:xfrm>
        </p:spPr>
      </p:pic>
      <p:sp>
        <p:nvSpPr>
          <p:cNvPr id="6" name="TextBox 5"/>
          <p:cNvSpPr txBox="1"/>
          <p:nvPr/>
        </p:nvSpPr>
        <p:spPr>
          <a:xfrm>
            <a:off x="1494525" y="411831"/>
            <a:ext cx="6769581" cy="5218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Dataset Selection &amp; Justification</a:t>
            </a:r>
            <a:endParaRPr lang="en-GB" sz="2000" b="1" dirty="0"/>
          </a:p>
          <a:p>
            <a:endParaRPr lang="en-GB" sz="2000" b="1" dirty="0"/>
          </a:p>
          <a:p>
            <a:endParaRPr lang="en-US" sz="2000" b="1" dirty="0"/>
          </a:p>
          <a:p>
            <a:r>
              <a:rPr lang="en-US" sz="2000" b="1" dirty="0"/>
              <a:t>Dataset</a:t>
            </a:r>
            <a:endParaRPr lang="en-US" sz="2000" dirty="0"/>
          </a:p>
          <a:p>
            <a:r>
              <a:rPr lang="en-US" sz="2000" dirty="0"/>
              <a:t>Financial Inclusion in Africa Dataset (Zindi) </a:t>
            </a:r>
            <a:endParaRPr lang="en-US" sz="2000" dirty="0"/>
          </a:p>
          <a:p>
            <a:r>
              <a:rPr lang="en-US" sz="2000" dirty="0"/>
              <a:t>23,524 respondents </a:t>
            </a:r>
            <a:endParaRPr lang="en-US" sz="2000" dirty="0"/>
          </a:p>
          <a:p>
            <a:r>
              <a:rPr lang="en-US" sz="2000" dirty="0"/>
              <a:t>Kenya, Uganda, Tanzania and Rwanda </a:t>
            </a:r>
            <a:endParaRPr lang="en-US" sz="2000" dirty="0"/>
          </a:p>
          <a:p>
            <a:r>
              <a:rPr lang="en-US" sz="2000" dirty="0"/>
              <a:t>Target variable: Bank Account Ownership </a:t>
            </a:r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US" sz="2000" dirty="0"/>
          </a:p>
          <a:p>
            <a:r>
              <a:rPr lang="en-US" sz="2000" b="1" dirty="0"/>
              <a:t>Why this dataset?</a:t>
            </a:r>
            <a:endParaRPr lang="en-US" sz="2000" dirty="0"/>
          </a:p>
          <a:p>
            <a:r>
              <a:rPr lang="en-US" sz="2000" dirty="0"/>
              <a:t>East African context </a:t>
            </a:r>
            <a:endParaRPr lang="en-US" sz="2000" dirty="0"/>
          </a:p>
          <a:p>
            <a:r>
              <a:rPr lang="en-US" sz="2000" dirty="0"/>
              <a:t>Large sample size </a:t>
            </a:r>
            <a:endParaRPr lang="en-US" sz="2000" dirty="0"/>
          </a:p>
          <a:p>
            <a:r>
              <a:rPr lang="en-US" sz="2000" dirty="0"/>
              <a:t>Relevant demographic and socioeconomic variables </a:t>
            </a:r>
            <a:endParaRPr lang="en-US" sz="2000" dirty="0"/>
          </a:p>
          <a:p>
            <a:r>
              <a:rPr lang="en-US" sz="2000" dirty="0"/>
              <a:t>Suitable for </a:t>
            </a:r>
            <a:r>
              <a:rPr lang="en-GB" sz="2000" dirty="0"/>
              <a:t>binary </a:t>
            </a:r>
            <a:r>
              <a:rPr lang="en-US" sz="2000" dirty="0"/>
              <a:t>classification</a:t>
            </a:r>
            <a:endParaRPr lang="en-US" sz="2000" dirty="0"/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endParaRPr lang="en-US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21" descr="Mountains under near dusk sky"/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1"/>
          <a:srcRect l="16939" r="16939"/>
          <a:stretch>
            <a:fillRect/>
          </a:stretch>
        </p:blipFill>
        <p:spPr>
          <a:xfrm>
            <a:off x="8941693" y="3668474"/>
            <a:ext cx="3043077" cy="3043083"/>
          </a:xfr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56504" y="1260554"/>
          <a:ext cx="9918700" cy="2407920"/>
        </p:xfrm>
        <a:graphic>
          <a:graphicData uri="http://schemas.openxmlformats.org/drawingml/2006/table">
            <a:tbl>
              <a:tblPr/>
              <a:tblGrid>
                <a:gridCol w="4959350"/>
                <a:gridCol w="4959350"/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/>
                        <a:t>Study</a:t>
                      </a:r>
                      <a:endParaRPr lang="en-US" sz="20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/>
                        <a:t>Key Finding</a:t>
                      </a:r>
                      <a:endParaRPr lang="en-US" sz="20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Ismail et al. (2021)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XGBoost achieved highest accuracy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Adesanya &amp; Emilia (2025)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AI improves financial inclusion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Afrobarometer (2025)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Education &amp; phone ownership influence bank accounts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Wale &amp; Makina (2017)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Socioeconomic factors determine financial inclusion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356504" y="602346"/>
            <a:ext cx="609456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/>
              <a:t>Related Work</a:t>
            </a:r>
            <a:endParaRPr lang="en-US" sz="32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1296119" y="4266685"/>
            <a:ext cx="609456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b="1" dirty="0"/>
              <a:t>Research Gap</a:t>
            </a:r>
            <a:endParaRPr lang="en-US" sz="1800" dirty="0"/>
          </a:p>
          <a:p>
            <a:r>
              <a:rPr lang="en-GB" dirty="0"/>
              <a:t>T</a:t>
            </a:r>
            <a:r>
              <a:rPr lang="en-US" sz="1800" dirty="0"/>
              <a:t>his study compares KNN, DT, SVM and ANN using Stratified 2-Fold Cross Validation.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Placeholder 12" descr="A mountain range with snow"/>
          <p:cNvPicPr>
            <a:picLocks noGrp="1" noChangeAspect="1"/>
          </p:cNvPicPr>
          <p:nvPr>
            <p:ph type="pic" sz="quarter" idx="13"/>
          </p:nvPr>
        </p:nvPicPr>
        <p:blipFill>
          <a:blip r:embed="rId1"/>
          <a:srcRect/>
          <a:stretch>
            <a:fillRect/>
          </a:stretch>
        </p:blipFill>
        <p:spPr>
          <a:xfrm>
            <a:off x="1527513" y="3830128"/>
            <a:ext cx="1956925" cy="1956928"/>
          </a:xfrm>
        </p:spPr>
      </p:pic>
      <p:sp>
        <p:nvSpPr>
          <p:cNvPr id="5" name="TextBox 4"/>
          <p:cNvSpPr txBox="1"/>
          <p:nvPr/>
        </p:nvSpPr>
        <p:spPr>
          <a:xfrm>
            <a:off x="4654760" y="117693"/>
            <a:ext cx="3096884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/>
              <a:t>Financial Inclusion </a:t>
            </a:r>
            <a:endParaRPr lang="en-GB" b="1" dirty="0"/>
          </a:p>
          <a:p>
            <a:pPr>
              <a:buNone/>
            </a:pPr>
            <a:r>
              <a:rPr lang="en-GB" b="1" dirty="0"/>
              <a:t>in Africa Dataset</a:t>
            </a:r>
            <a:endParaRPr lang="en-GB" b="1" dirty="0"/>
          </a:p>
          <a:p>
            <a:pPr>
              <a:buNone/>
            </a:pPr>
            <a:r>
              <a:rPr lang="en-GB" b="1" dirty="0"/>
              <a:t>               │</a:t>
            </a:r>
            <a:endParaRPr lang="en-GB" b="1" dirty="0"/>
          </a:p>
          <a:p>
            <a:pPr>
              <a:buNone/>
            </a:pPr>
            <a:r>
              <a:rPr lang="en-GB" b="1" dirty="0"/>
              <a:t>Data Exploration</a:t>
            </a:r>
            <a:endParaRPr lang="en-GB" b="1" dirty="0"/>
          </a:p>
          <a:p>
            <a:pPr>
              <a:buNone/>
            </a:pPr>
            <a:r>
              <a:rPr lang="en-GB" b="1" dirty="0"/>
              <a:t>(No missing values found)</a:t>
            </a:r>
            <a:endParaRPr lang="en-GB" b="1" dirty="0"/>
          </a:p>
          <a:p>
            <a:pPr>
              <a:buNone/>
            </a:pPr>
            <a:r>
              <a:rPr lang="en-GB" b="1" dirty="0"/>
              <a:t>               │</a:t>
            </a:r>
            <a:endParaRPr lang="en-GB" b="1" dirty="0"/>
          </a:p>
          <a:p>
            <a:pPr>
              <a:buNone/>
            </a:pPr>
            <a:r>
              <a:rPr lang="en-GB" b="1" dirty="0"/>
              <a:t>Data Cleaning</a:t>
            </a:r>
            <a:endParaRPr lang="en-GB" b="1" dirty="0"/>
          </a:p>
          <a:p>
            <a:pPr>
              <a:buNone/>
            </a:pPr>
            <a:r>
              <a:rPr lang="en-GB" b="1" dirty="0"/>
              <a:t>(Removed </a:t>
            </a:r>
            <a:r>
              <a:rPr lang="en-GB" b="1" dirty="0" err="1"/>
              <a:t>uniqueid</a:t>
            </a:r>
            <a:r>
              <a:rPr lang="en-GB" b="1" dirty="0"/>
              <a:t>)</a:t>
            </a:r>
            <a:endParaRPr lang="en-GB" b="1" dirty="0"/>
          </a:p>
          <a:p>
            <a:pPr>
              <a:buNone/>
            </a:pPr>
            <a:r>
              <a:rPr lang="en-GB" b="1" dirty="0"/>
              <a:t>               │</a:t>
            </a:r>
            <a:endParaRPr lang="en-GB" b="1" dirty="0"/>
          </a:p>
          <a:p>
            <a:pPr>
              <a:buNone/>
            </a:pPr>
            <a:r>
              <a:rPr lang="en-GB" b="1" dirty="0"/>
              <a:t>Feature Engineering</a:t>
            </a:r>
            <a:endParaRPr lang="en-GB" b="1" dirty="0"/>
          </a:p>
          <a:p>
            <a:pPr>
              <a:buNone/>
            </a:pPr>
            <a:r>
              <a:rPr lang="en-GB" b="1" dirty="0"/>
              <a:t>(Target Encoding +</a:t>
            </a:r>
            <a:endParaRPr lang="en-GB" b="1" dirty="0"/>
          </a:p>
          <a:p>
            <a:pPr>
              <a:buNone/>
            </a:pPr>
            <a:r>
              <a:rPr lang="en-GB" b="1" dirty="0"/>
              <a:t> One-Hot Encoding)</a:t>
            </a:r>
            <a:endParaRPr lang="en-GB" b="1" dirty="0"/>
          </a:p>
          <a:p>
            <a:pPr>
              <a:buNone/>
            </a:pPr>
            <a:r>
              <a:rPr lang="en-GB" b="1" dirty="0"/>
              <a:t>               │</a:t>
            </a:r>
            <a:endParaRPr lang="en-GB" b="1" dirty="0"/>
          </a:p>
          <a:p>
            <a:pPr>
              <a:buNone/>
            </a:pPr>
            <a:r>
              <a:rPr lang="en-GB" b="1" dirty="0"/>
              <a:t>Feature Scaling</a:t>
            </a:r>
            <a:endParaRPr lang="en-GB" b="1" dirty="0"/>
          </a:p>
          <a:p>
            <a:pPr>
              <a:buNone/>
            </a:pPr>
            <a:r>
              <a:rPr lang="en-GB" b="1" dirty="0"/>
              <a:t>(</a:t>
            </a:r>
            <a:r>
              <a:rPr lang="en-GB" b="1" dirty="0" err="1"/>
              <a:t>StandardScaler</a:t>
            </a:r>
            <a:r>
              <a:rPr lang="en-GB" b="1" dirty="0"/>
              <a:t>)</a:t>
            </a:r>
            <a:endParaRPr lang="en-GB" b="1" dirty="0"/>
          </a:p>
          <a:p>
            <a:pPr>
              <a:buNone/>
            </a:pPr>
            <a:r>
              <a:rPr lang="en-GB" b="1" dirty="0"/>
              <a:t>               │</a:t>
            </a:r>
            <a:endParaRPr lang="en-GB" b="1" dirty="0"/>
          </a:p>
          <a:p>
            <a:pPr>
              <a:buNone/>
            </a:pPr>
            <a:r>
              <a:rPr lang="en-GB" b="1" dirty="0"/>
              <a:t>Final Dataset</a:t>
            </a:r>
            <a:endParaRPr lang="en-GB" b="1" dirty="0"/>
          </a:p>
          <a:p>
            <a:pPr>
              <a:buNone/>
            </a:pPr>
            <a:r>
              <a:rPr lang="en-GB" b="1" dirty="0"/>
              <a:t>(23,524 samples,</a:t>
            </a:r>
            <a:endParaRPr lang="en-GB" b="1" dirty="0"/>
          </a:p>
          <a:p>
            <a:pPr>
              <a:buNone/>
            </a:pPr>
            <a:r>
              <a:rPr lang="en-GB" b="1" dirty="0"/>
              <a:t>40 predictor features)</a:t>
            </a:r>
            <a:endParaRPr lang="en-GB" b="1" dirty="0"/>
          </a:p>
          <a:p>
            <a:pPr>
              <a:buNone/>
            </a:pPr>
            <a:r>
              <a:rPr lang="en-GB" b="1" dirty="0"/>
              <a:t>               │</a:t>
            </a:r>
            <a:endParaRPr lang="en-GB" b="1" dirty="0"/>
          </a:p>
          <a:p>
            <a:pPr>
              <a:buNone/>
            </a:pPr>
            <a:r>
              <a:rPr lang="en-GB" b="1" dirty="0"/>
              <a:t>Stratified 2-Fold</a:t>
            </a:r>
            <a:endParaRPr lang="en-GB" b="1" dirty="0"/>
          </a:p>
          <a:p>
            <a:pPr>
              <a:buNone/>
            </a:pPr>
            <a:r>
              <a:rPr lang="en-GB" b="1" dirty="0"/>
              <a:t> Cross Validation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344608" y="2595120"/>
            <a:ext cx="232273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Training Data Construction</a:t>
            </a:r>
            <a:endParaRPr lang="en-GB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8117452" y="3591839"/>
            <a:ext cx="372445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Final Dataset</a:t>
            </a:r>
            <a:endParaRPr lang="en-GB" b="1" dirty="0"/>
          </a:p>
          <a:p>
            <a:pPr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23,524 observations 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40 predictor features 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Binary target</a:t>
            </a:r>
            <a:r>
              <a:rPr lang="en-GB" dirty="0"/>
              <a:t> (</a:t>
            </a:r>
            <a:r>
              <a:rPr lang="en-GB" dirty="0" err="1"/>
              <a:t>bank_account</a:t>
            </a:r>
            <a:r>
              <a:rPr lang="en-GB" dirty="0"/>
              <a:t>)</a:t>
            </a:r>
            <a:endParaRPr lang="en-US" dirty="0"/>
          </a:p>
        </p:txBody>
      </p:sp>
      <p:pic>
        <p:nvPicPr>
          <p:cNvPr id="10" name="Picture Placeholder 12" descr="A mountain range with snow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8117452" y="638192"/>
            <a:ext cx="1956925" cy="1956928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356503" y="296648"/>
            <a:ext cx="4431821" cy="446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Machine Learning Models</a:t>
            </a:r>
            <a:endParaRPr lang="en-GB" sz="2400" b="1" dirty="0"/>
          </a:p>
          <a:p>
            <a:pPr>
              <a:buNone/>
            </a:pPr>
            <a:endParaRPr lang="en-US" sz="20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K-Nearest </a:t>
            </a:r>
            <a:r>
              <a:rPr lang="en-US" sz="2000" dirty="0" err="1"/>
              <a:t>Neighbors</a:t>
            </a:r>
            <a:r>
              <a:rPr lang="en-US" sz="2000" dirty="0"/>
              <a:t> (KNN) 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Decision Tree 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Support Vector Machine 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Artificial Neural Network </a:t>
            </a:r>
            <a:endParaRPr lang="en-US" sz="2000" dirty="0"/>
          </a:p>
          <a:p>
            <a:pPr>
              <a:buNone/>
            </a:pPr>
            <a:endParaRPr lang="en-GB" sz="2000" b="1" dirty="0"/>
          </a:p>
          <a:p>
            <a:pPr>
              <a:buNone/>
            </a:pPr>
            <a:endParaRPr lang="en-GB" sz="2000" b="1" dirty="0"/>
          </a:p>
          <a:p>
            <a:pPr>
              <a:buNone/>
            </a:pPr>
            <a:r>
              <a:rPr lang="en-US" sz="2000" b="1" dirty="0"/>
              <a:t>Evaluation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Stratified 2-Fold Cross Validation 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Accuracy 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Precision 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Recall 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F1-Score</a:t>
            </a:r>
            <a:endParaRPr lang="en-US" sz="2000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788324" y="943629"/>
          <a:ext cx="6064370" cy="5313816"/>
        </p:xfrm>
        <a:graphic>
          <a:graphicData uri="http://schemas.openxmlformats.org/drawingml/2006/table">
            <a:tbl>
              <a:tblPr firstRow="1" firstCol="1" bandRow="1">
                <a:tableStyleId>{9DCAF9ED-07DC-4A11-8D7F-57B35C25682E}</a:tableStyleId>
              </a:tblPr>
              <a:tblGrid>
                <a:gridCol w="1518287"/>
                <a:gridCol w="1009253"/>
                <a:gridCol w="1130061"/>
                <a:gridCol w="1121433"/>
                <a:gridCol w="1285336"/>
              </a:tblGrid>
              <a:tr h="66223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Model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Accuracy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Precision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Recall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F1-Score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13317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Artificial Neural Network (ANN)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0.8862</a:t>
                      </a:r>
                      <a:endParaRPr lang="en-US" sz="1200" kern="10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en-US" sz="1200" kern="10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0.6836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0.3575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0.4695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100275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K-Nearest Neighbors (KNN)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0.8772</a:t>
                      </a:r>
                      <a:endParaRPr lang="en-US" sz="1200" kern="10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0.6139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0.3463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0.4428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98530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Decision Tree (DT)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0.8164</a:t>
                      </a:r>
                      <a:endParaRPr lang="en-US" sz="1200" kern="10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0.3630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0.4025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0.3817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13317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Support Vector Machine (SVM)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0.7922</a:t>
                      </a:r>
                      <a:endParaRPr lang="en-US" sz="1200" kern="1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 </a:t>
                      </a:r>
                      <a:endParaRPr lang="en-US" sz="1200" kern="1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 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0.3803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0.7560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0.5060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096000" y="296648"/>
            <a:ext cx="48422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Classification Accuracy Results</a:t>
            </a:r>
            <a:endParaRPr lang="en-US" sz="2400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7253" y="1302629"/>
            <a:ext cx="6210300" cy="451876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044187" y="1302629"/>
            <a:ext cx="5147813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Discussion</a:t>
            </a: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ANN had the highest overall accuracy</a:t>
            </a:r>
            <a:r>
              <a:rPr lang="en-GB" dirty="0"/>
              <a:t>(best model).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SVM achieved the highest Recall and F1-score</a:t>
            </a:r>
            <a:r>
              <a:rPr lang="en-GB" dirty="0"/>
              <a:t>; </a:t>
            </a:r>
            <a:r>
              <a:rPr lang="en-US" dirty="0"/>
              <a:t>more effective at identifying bank account owners.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KNN produced competitive performance</a:t>
            </a:r>
            <a:r>
              <a:rPr lang="en-GB" dirty="0"/>
              <a:t>(</a:t>
            </a:r>
            <a:r>
              <a:rPr lang="en-US" dirty="0"/>
              <a:t>second-highest classification accuracy</a:t>
            </a:r>
            <a:r>
              <a:rPr lang="en-GB" dirty="0"/>
              <a:t>)</a:t>
            </a:r>
            <a:r>
              <a:rPr lang="en-US" dirty="0"/>
              <a:t>.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Decision Tree showed lower performance.</a:t>
            </a:r>
            <a:endParaRPr lang="en-GB" dirty="0"/>
          </a:p>
          <a:p>
            <a:r>
              <a:rPr lang="en-US" dirty="0"/>
              <a:t> 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Dataset imbalance influenced model performance</a:t>
            </a:r>
            <a:r>
              <a:rPr lang="en-GB" dirty="0"/>
              <a:t>(Recall and F1 Score).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043796" y="556728"/>
            <a:ext cx="83417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Performance Comparison of Machine Learning Models</a:t>
            </a:r>
            <a:endParaRPr lang="en-US" sz="2400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821010" y="1735210"/>
            <a:ext cx="527499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Four machine learning models were evaluated. 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ANN produced the highest overall accuracy.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SVM performed best in identifying bank account owners. 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Model selection depends on the prediction objective. 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Machine learning is effective for predicting financial inclusion.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77441" y="2363637"/>
            <a:ext cx="3838942" cy="1267662"/>
          </a:xfrm>
        </p:spPr>
        <p:txBody>
          <a:bodyPr/>
          <a:lstStyle/>
          <a:p>
            <a:r>
              <a:rPr lang="en-US" dirty="0"/>
              <a:t>Thank you</a:t>
            </a:r>
            <a:endParaRPr lang="en-US" dirty="0"/>
          </a:p>
        </p:txBody>
      </p:sp>
      <p:pic>
        <p:nvPicPr>
          <p:cNvPr id="5" name="Picture Placeholder 14" descr="Mountains under near dusk sky"/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1"/>
          <a:srcRect l="13191" r="13191"/>
          <a:stretch>
            <a:fillRect/>
          </a:stretch>
        </p:blipFill>
        <p:spPr>
          <a:xfrm>
            <a:off x="1043802" y="2912015"/>
            <a:ext cx="3043077" cy="3043083"/>
          </a:xfr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GradientVTI">
  <a:themeElements>
    <a:clrScheme name="Gradient">
      <a:dk1>
        <a:sysClr val="windowText" lastClr="000000"/>
      </a:dk1>
      <a:lt1>
        <a:sysClr val="window" lastClr="FFFFFF"/>
      </a:lt1>
      <a:dk2>
        <a:srgbClr val="10013F"/>
      </a:dk2>
      <a:lt2>
        <a:srgbClr val="F2F0FF"/>
      </a:lt2>
      <a:accent1>
        <a:srgbClr val="814DFF"/>
      </a:accent1>
      <a:accent2>
        <a:srgbClr val="243FFF"/>
      </a:accent2>
      <a:accent3>
        <a:srgbClr val="FF83B6"/>
      </a:accent3>
      <a:accent4>
        <a:srgbClr val="FF9022"/>
      </a:accent4>
      <a:accent5>
        <a:srgbClr val="FF1F85"/>
      </a:accent5>
      <a:accent6>
        <a:srgbClr val="1A98FF"/>
      </a:accent6>
      <a:hlink>
        <a:srgbClr val="0563C1"/>
      </a:hlink>
      <a:folHlink>
        <a:srgbClr val="954F72"/>
      </a:folHlink>
    </a:clrScheme>
    <a:fontScheme name="Univers">
      <a:majorFont>
        <a:latin typeface="Univers"/>
        <a:ea typeface=""/>
        <a:cs typeface=""/>
      </a:majorFont>
      <a:minorFont>
        <a:latin typeface="Univer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0E87F72-70BF-43BC-A0D4-53665DC12672}">
  <ds:schemaRefs/>
</ds:datastoreItem>
</file>

<file path=customXml/itemProps2.xml><?xml version="1.0" encoding="utf-8"?>
<ds:datastoreItem xmlns:ds="http://schemas.openxmlformats.org/officeDocument/2006/customXml" ds:itemID="{FABD9919-8F5A-4B99-83E1-E90FE1DCF2E1}">
  <ds:schemaRefs/>
</ds:datastoreItem>
</file>

<file path=customXml/itemProps3.xml><?xml version="1.0" encoding="utf-8"?>
<ds:datastoreItem xmlns:ds="http://schemas.openxmlformats.org/officeDocument/2006/customXml" ds:itemID="{52D646E0-DCC8-4209-B539-AA58186B682C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{9CF61F88-D994-4EEB-8808-99F6558E2B88}tf89338750_win32</Template>
  <TotalTime>0</TotalTime>
  <Words>2883</Words>
  <Application>WPS Presentation</Application>
  <PresentationFormat>Widescreen</PresentationFormat>
  <Paragraphs>192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2" baseType="lpstr">
      <vt:lpstr>Arial</vt:lpstr>
      <vt:lpstr>SimSun</vt:lpstr>
      <vt:lpstr>Wingdings</vt:lpstr>
      <vt:lpstr>Times New Roman</vt:lpstr>
      <vt:lpstr>DengXian</vt:lpstr>
      <vt:lpstr>Aptos</vt:lpstr>
      <vt:lpstr>Segoe UI</vt:lpstr>
      <vt:lpstr>Univers</vt:lpstr>
      <vt:lpstr>Microsoft Himalaya</vt:lpstr>
      <vt:lpstr>Microsoft YaHei</vt:lpstr>
      <vt:lpstr>Arial Unicode MS</vt:lpstr>
      <vt:lpstr>Calibri</vt:lpstr>
      <vt:lpstr>GradientVTI</vt:lpstr>
      <vt:lpstr>Machine Learning Mini Project  Justus Onyango	191948 Caxton Kiptoo	180657 paul gitungo		190093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Conclusion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caxton comlan</dc:creator>
  <cp:lastModifiedBy>kayce</cp:lastModifiedBy>
  <cp:revision>3</cp:revision>
  <dcterms:created xsi:type="dcterms:W3CDTF">2026-07-16T15:22:00Z</dcterms:created>
  <dcterms:modified xsi:type="dcterms:W3CDTF">2026-07-16T20:47:31Z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ICV">
    <vt:lpwstr>F29195FD9E624E329507E16CFDB3849D_12</vt:lpwstr>
  </property>
  <property fmtid="{D5CDD505-2E9C-101B-9397-08002B2CF9AE}" pid="4" name="KSOProductBuildVer">
    <vt:lpwstr>1033-12.1.0.27458</vt:lpwstr>
  </property>
</Properties>
</file>